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[~30s] Welcome audience. Outline the four research pillars: taxonomy, risks, detection, prevention. Set expectation for 5-8 min talk.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 Define prompt injection clearly. Emphasize the SQL injection analogy — audience likely familiar with web security. Point to the #1 OWASP ranking to establish severity.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 Cover Direct Injection. Jailbreaking: DAN persona bypasses content policies. Goal hijacking: 'ignore previous instructions' redirects the model's task. Prompt leaking: extracting system prompts reveals application guardrails.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 Cover Indirect Injection. Key insight: attacker plants payload in external content the model will retrieve. RAG poisoning is especially dangerous for enterprise knowledge bases. Email injection can trigger actions like forwarding data to attacker.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[~30s] Walk through the taxonomy diagram. Point out the hierarchy from category to specific technique. Note how complexity increases left to right, reflecting the evolution of LLM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 Emphasize data exfiltration and unauthorized actions as highest-severity outcomes. Give the markdown image exfiltration example — it's vivid and memorable: a poisoned doc encodes data into a URL rendered as an image tag.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[~30s] Cover remaining risk categories briefly. Content manipulation is insidious because users trust AI output. Supply chain propagation means one compromised system can cascade to others. Highlight that impact scales with agent permission scope.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[~30s] Cover the three pattern-based detection approaches. Heuristic: fast but trivially bypassed via paraphrasing. ML: better coverage but training-data dependent. Perplexity: good for machine-generated adversarial suffixes but not human-crafted prompts.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[~30s] Canary tokens: proactive but only catch context leakage. LLM-as-judge: most capable detector but doubles inference cost and the judge itself can be fooled. Key message: no single method works, you need to layer multiple approaches.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[~30s] Walk through the defense pipeline diagram. Each layer catches different attack types. Input sanitization stops known patterns. Detection flags anomalies. Output filtering catches successful attacks. Monitoring provides feedback loop.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 Cover the layered defense approach. Instruction hierarchy is the most promising model-level defense but only model providers can implement it. App developers must layer sanitization + guardrails + output validation. System architects enforce sandboxing and least privilege. Emphasize that no single strategy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[~30s] Show the architecture diagram. Model providers handle instruction hierarchy. App developers deploy guardrails and filtering. System architects enforce sandboxing and least privilege. All three levels must coordinate for effective defense.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[~30s] Highlight the three foundational references. Abdallah et al. for comprehensive taxonomy. Greshake et al. for indirect injection formalization. Wallace et al. for instruction hierarchy defense. Close with the key takeaway: no silver bullet, defense in depth required.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Thank audience. Invite questions. If no questions, reiterate the defense-in-depth message and that prompt injection remains an active research area.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914400" y="1645920"/>
            <a:ext cx="10058400" cy="1828800"/>
          </a:xfrm>
          <a:prstGeom prst="rect">
            <a:avLst/>
          </a:prstGeom>
          <a:noFill/>
        </p:spPr>
        <p:txBody>
          <a:bodyPr wrap="square">
            <a:spAutoFit/>
          </a:bodyPr>
          <a:lstStyle/>
          <a:p>
            <a:pPr algn="ctr">
              <a:defRPr sz="3600" b="1">
                <a:solidFill>
                  <a:srgbClr val="64B4FF"/>
                </a:solidFill>
              </a:defRPr>
            </a:pPr>
            <a:r>
              <a:t>Prompt Injection Attacks in Large Language Models</a:t>
            </a:r>
          </a:p>
        </p:txBody>
      </p:sp>
      <p:sp>
        <p:nvSpPr>
          <p:cNvPr id="3" name="TextBox 2"/>
          <p:cNvSpPr txBox="1"/>
          <p:nvPr/>
        </p:nvSpPr>
        <p:spPr>
          <a:xfrm>
            <a:off x="914400" y="3474720"/>
            <a:ext cx="10058400" cy="914400"/>
          </a:xfrm>
          <a:prstGeom prst="rect">
            <a:avLst/>
          </a:prstGeom>
          <a:noFill/>
        </p:spPr>
        <p:txBody>
          <a:bodyPr wrap="square">
            <a:spAutoFit/>
          </a:bodyPr>
          <a:lstStyle/>
          <a:p>
            <a:pPr algn="ctr">
              <a:defRPr sz="2200" b="0">
                <a:solidFill>
                  <a:srgbClr val="B4B4B4"/>
                </a:solidFill>
              </a:defRPr>
            </a:pPr>
            <a:r>
              <a:t>A Survey of Attack Taxonomies, Risks, Detection, and Prevention</a:t>
            </a:r>
          </a:p>
        </p:txBody>
      </p:sp>
      <p:sp>
        <p:nvSpPr>
          <p:cNvPr id="4" name="TextBox 3"/>
          <p:cNvSpPr txBox="1"/>
          <p:nvPr/>
        </p:nvSpPr>
        <p:spPr>
          <a:xfrm>
            <a:off x="914400" y="4754880"/>
            <a:ext cx="10058400" cy="548640"/>
          </a:xfrm>
          <a:prstGeom prst="rect">
            <a:avLst/>
          </a:prstGeom>
          <a:noFill/>
        </p:spPr>
        <p:txBody>
          <a:bodyPr wrap="square">
            <a:spAutoFit/>
          </a:bodyPr>
          <a:lstStyle/>
          <a:p>
            <a:pPr algn="ctr">
              <a:defRPr sz="2000" b="0">
                <a:solidFill>
                  <a:srgbClr val="E6E6E6"/>
                </a:solidFill>
              </a:defRPr>
            </a:pPr>
            <a:r>
              <a:t>Edward Griggs</a:t>
            </a:r>
          </a:p>
        </p:txBody>
      </p:sp>
      <p:sp>
        <p:nvSpPr>
          <p:cNvPr id="5" name="TextBox 4"/>
          <p:cNvSpPr txBox="1"/>
          <p:nvPr/>
        </p:nvSpPr>
        <p:spPr>
          <a:xfrm>
            <a:off x="914400" y="5394960"/>
            <a:ext cx="10058400" cy="548640"/>
          </a:xfrm>
          <a:prstGeom prst="rect">
            <a:avLst/>
          </a:prstGeom>
          <a:noFill/>
        </p:spPr>
        <p:txBody>
          <a:bodyPr wrap="square">
            <a:spAutoFit/>
          </a:bodyPr>
          <a:lstStyle/>
          <a:p>
            <a:pPr algn="ctr">
              <a:defRPr sz="1600" b="0">
                <a:solidFill>
                  <a:srgbClr val="B4B4B4"/>
                </a:solidFill>
              </a:defRPr>
            </a:pPr>
            <a:r>
              <a:t>Christopher Newport University • COVACCI Cybersecurity Undergraduate Research</a:t>
            </a:r>
          </a:p>
        </p:txBody>
      </p:sp>
      <p:sp>
        <p:nvSpPr>
          <p:cNvPr id="6" name="TextBox 5"/>
          <p:cNvSpPr txBox="1"/>
          <p:nvPr/>
        </p:nvSpPr>
        <p:spPr>
          <a:xfrm>
            <a:off x="11247120" y="6400800"/>
            <a:ext cx="731520" cy="365760"/>
          </a:xfrm>
          <a:prstGeom prst="rect">
            <a:avLst/>
          </a:prstGeom>
          <a:noFill/>
        </p:spPr>
        <p:txBody>
          <a:bodyPr wrap="square">
            <a:spAutoFit/>
          </a:bodyPr>
          <a:lstStyle/>
          <a:p>
            <a:pPr algn="r">
              <a:defRPr sz="1000" b="0">
                <a:solidFill>
                  <a:srgbClr val="8C8C8C"/>
                </a:solidFill>
              </a:defRPr>
            </a:pPr>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731520" y="365760"/>
            <a:ext cx="10515600" cy="731520"/>
          </a:xfrm>
          <a:prstGeom prst="rect">
            <a:avLst/>
          </a:prstGeom>
          <a:noFill/>
        </p:spPr>
        <p:txBody>
          <a:bodyPr wrap="square">
            <a:spAutoFit/>
          </a:bodyPr>
          <a:lstStyle/>
          <a:p>
            <a:pPr algn="l">
              <a:defRPr sz="3200" b="1">
                <a:solidFill>
                  <a:srgbClr val="64B4FF"/>
                </a:solidFill>
              </a:defRPr>
            </a:pPr>
            <a:r>
              <a:t>Presentation Overview</a:t>
            </a:r>
          </a:p>
        </p:txBody>
      </p:sp>
      <p:sp>
        <p:nvSpPr>
          <p:cNvPr id="3" name="TextBox 2"/>
          <p:cNvSpPr txBox="1"/>
          <p:nvPr/>
        </p:nvSpPr>
        <p:spPr>
          <a:xfrm>
            <a:off x="731520" y="1371600"/>
            <a:ext cx="10515600" cy="4572000"/>
          </a:xfrm>
          <a:prstGeom prst="rect">
            <a:avLst/>
          </a:prstGeom>
          <a:noFill/>
        </p:spPr>
        <p:txBody>
          <a:bodyPr wrap="square">
            <a:spAutoFit/>
          </a:bodyPr>
          <a:lstStyle/>
          <a:p>
            <a:pPr>
              <a:spcAft>
                <a:spcPts val="600"/>
              </a:spcAft>
              <a:defRPr sz="1800">
                <a:solidFill>
                  <a:srgbClr val="E6E6E6"/>
                </a:solidFill>
              </a:defRPr>
            </a:pPr>
            <a:r>
              <a:t>• What is prompt injection?</a:t>
            </a:r>
          </a:p>
          <a:p>
            <a:pPr>
              <a:spcAft>
                <a:spcPts val="600"/>
              </a:spcAft>
              <a:defRPr sz="1800">
                <a:solidFill>
                  <a:srgbClr val="E6E6E6"/>
                </a:solidFill>
              </a:defRPr>
            </a:pPr>
            <a:r>
              <a:t>• Attack taxonomy — direct and indirect vectors</a:t>
            </a:r>
          </a:p>
          <a:p>
            <a:pPr>
              <a:spcAft>
                <a:spcPts val="600"/>
              </a:spcAft>
              <a:defRPr sz="1800">
                <a:solidFill>
                  <a:srgbClr val="E6E6E6"/>
                </a:solidFill>
              </a:defRPr>
            </a:pPr>
            <a:r>
              <a:t>• Real-world risks and impact categories</a:t>
            </a:r>
          </a:p>
          <a:p>
            <a:pPr>
              <a:spcAft>
                <a:spcPts val="600"/>
              </a:spcAft>
              <a:defRPr sz="1800">
                <a:solidFill>
                  <a:srgbClr val="E6E6E6"/>
                </a:solidFill>
              </a:defRPr>
            </a:pPr>
            <a:r>
              <a:t>• Detection techniques and tools</a:t>
            </a:r>
          </a:p>
          <a:p>
            <a:pPr>
              <a:spcAft>
                <a:spcPts val="600"/>
              </a:spcAft>
              <a:defRPr sz="1800">
                <a:solidFill>
                  <a:srgbClr val="E6E6E6"/>
                </a:solidFill>
              </a:defRPr>
            </a:pPr>
            <a:r>
              <a:t>• Prevention strategies and defense architecture</a:t>
            </a:r>
          </a:p>
          <a:p>
            <a:pPr>
              <a:spcAft>
                <a:spcPts val="600"/>
              </a:spcAft>
              <a:defRPr sz="1800">
                <a:solidFill>
                  <a:srgbClr val="E6E6E6"/>
                </a:solidFill>
              </a:defRPr>
            </a:pPr>
            <a:r>
              <a:t>• Key references and future directions</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8C8C8C"/>
                </a:solidFill>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731520" y="365760"/>
            <a:ext cx="10515600" cy="731520"/>
          </a:xfrm>
          <a:prstGeom prst="rect">
            <a:avLst/>
          </a:prstGeom>
          <a:noFill/>
        </p:spPr>
        <p:txBody>
          <a:bodyPr wrap="square">
            <a:spAutoFit/>
          </a:bodyPr>
          <a:lstStyle/>
          <a:p>
            <a:pPr algn="l">
              <a:defRPr sz="3200" b="1">
                <a:solidFill>
                  <a:srgbClr val="64B4FF"/>
                </a:solidFill>
              </a:defRPr>
            </a:pPr>
            <a:r>
              <a:t>What is Prompt Injection?</a:t>
            </a:r>
          </a:p>
        </p:txBody>
      </p:sp>
      <p:sp>
        <p:nvSpPr>
          <p:cNvPr id="3" name="TextBox 2"/>
          <p:cNvSpPr txBox="1"/>
          <p:nvPr/>
        </p:nvSpPr>
        <p:spPr>
          <a:xfrm>
            <a:off x="731520" y="1371600"/>
            <a:ext cx="7315200" cy="4572000"/>
          </a:xfrm>
          <a:prstGeom prst="rect">
            <a:avLst/>
          </a:prstGeom>
          <a:noFill/>
        </p:spPr>
        <p:txBody>
          <a:bodyPr wrap="square">
            <a:spAutoFit/>
          </a:bodyPr>
          <a:lstStyle/>
          <a:p>
            <a:pPr>
              <a:spcAft>
                <a:spcPts val="600"/>
              </a:spcAft>
              <a:defRPr sz="1700">
                <a:solidFill>
                  <a:srgbClr val="E6E6E6"/>
                </a:solidFill>
              </a:defRPr>
            </a:pPr>
            <a:r>
              <a:t>• Adversarial inputs that hijack LLM behavior by overriding system instructions</a:t>
            </a:r>
          </a:p>
          <a:p>
            <a:pPr>
              <a:spcAft>
                <a:spcPts val="600"/>
              </a:spcAft>
              <a:defRPr sz="1700">
                <a:solidFill>
                  <a:srgbClr val="E6E6E6"/>
                </a:solidFill>
              </a:defRPr>
            </a:pPr>
            <a:r>
              <a:t>• Analogous to SQL injection — exploits the blurred boundary between code and data</a:t>
            </a:r>
          </a:p>
          <a:p>
            <a:pPr>
              <a:spcAft>
                <a:spcPts val="600"/>
              </a:spcAft>
              <a:defRPr sz="1700">
                <a:solidFill>
                  <a:srgbClr val="E6E6E6"/>
                </a:solidFill>
              </a:defRPr>
            </a:pPr>
            <a:r>
              <a:t>• Affects all major LLM platforms: ChatGPT, Claude, Gemini, Copilot</a:t>
            </a:r>
          </a:p>
          <a:p>
            <a:pPr>
              <a:spcAft>
                <a:spcPts val="600"/>
              </a:spcAft>
              <a:defRPr sz="1700">
                <a:solidFill>
                  <a:srgbClr val="E6E6E6"/>
                </a:solidFill>
              </a:defRPr>
            </a:pPr>
            <a:r>
              <a:t>• Two primary vectors: direct injection (user input) and indirect injection (external data)</a:t>
            </a:r>
          </a:p>
        </p:txBody>
      </p:sp>
      <p:sp>
        <p:nvSpPr>
          <p:cNvPr id="4" name="TextBox 3"/>
          <p:cNvSpPr txBox="1"/>
          <p:nvPr/>
        </p:nvSpPr>
        <p:spPr>
          <a:xfrm>
            <a:off x="8686800" y="1645920"/>
            <a:ext cx="2743200" cy="1828800"/>
          </a:xfrm>
          <a:prstGeom prst="rect">
            <a:avLst/>
          </a:prstGeom>
          <a:noFill/>
        </p:spPr>
        <p:txBody>
          <a:bodyPr wrap="square">
            <a:spAutoFit/>
          </a:bodyPr>
          <a:lstStyle/>
          <a:p>
            <a:pPr algn="ctr"/>
            <a:r>
              <a:rPr sz="7200" b="1">
                <a:solidFill>
                  <a:srgbClr val="FF5050"/>
                </a:solidFill>
              </a:rPr>
              <a:t>#1</a:t>
            </a:r>
          </a:p>
          <a:p>
            <a:pPr algn="ctr"/>
            <a:r>
              <a:rPr sz="1400" b="1">
                <a:solidFill>
                  <a:srgbClr val="FFAA3C"/>
                </a:solidFill>
              </a:rPr>
              <a:t>OWASP Top 10
for LLM Apps</a:t>
            </a:r>
          </a:p>
          <a:p>
            <a:pPr algn="ctr"/>
            <a:r>
              <a:rPr sz="1200">
                <a:solidFill>
                  <a:srgbClr val="B4B4B4"/>
                </a:solidFill>
              </a:rPr>
              <a:t>(LLM01)</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8C8C8C"/>
                </a:solidFill>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731520" y="365760"/>
            <a:ext cx="10515600" cy="731520"/>
          </a:xfrm>
          <a:prstGeom prst="rect">
            <a:avLst/>
          </a:prstGeom>
          <a:noFill/>
        </p:spPr>
        <p:txBody>
          <a:bodyPr wrap="square">
            <a:spAutoFit/>
          </a:bodyPr>
          <a:lstStyle/>
          <a:p>
            <a:pPr algn="l">
              <a:defRPr sz="3200" b="1">
                <a:solidFill>
                  <a:srgbClr val="64B4FF"/>
                </a:solidFill>
              </a:defRPr>
            </a:pPr>
            <a:r>
              <a:t>Attack Taxonomy: Direct Injection</a:t>
            </a:r>
          </a:p>
        </p:txBody>
      </p:sp>
      <p:sp>
        <p:nvSpPr>
          <p:cNvPr id="3" name="TextBox 2"/>
          <p:cNvSpPr txBox="1"/>
          <p:nvPr/>
        </p:nvSpPr>
        <p:spPr>
          <a:xfrm>
            <a:off x="731520" y="1371600"/>
            <a:ext cx="10515600" cy="4572000"/>
          </a:xfrm>
          <a:prstGeom prst="rect">
            <a:avLst/>
          </a:prstGeom>
          <a:noFill/>
        </p:spPr>
        <p:txBody>
          <a:bodyPr wrap="square">
            <a:spAutoFit/>
          </a:bodyPr>
          <a:lstStyle/>
          <a:p>
            <a:pPr>
              <a:spcAft>
                <a:spcPts val="800"/>
              </a:spcAft>
            </a:pPr>
            <a:r>
              <a:rPr sz="1800">
                <a:solidFill>
                  <a:srgbClr val="E6E6E6"/>
                </a:solidFill>
              </a:rPr>
              <a:t>• </a:t>
            </a:r>
            <a:r>
              <a:rPr sz="1800" b="1">
                <a:solidFill>
                  <a:srgbClr val="FFAA3C"/>
                </a:solidFill>
              </a:rPr>
              <a:t>Jailbreaking</a:t>
            </a:r>
            <a:r>
              <a:rPr sz="1800">
                <a:solidFill>
                  <a:srgbClr val="E6E6E6"/>
                </a:solidFill>
              </a:rPr>
              <a:t> — persona manipulation bypasses safety alignment (DAN, role-play scenarios)</a:t>
            </a:r>
          </a:p>
          <a:p>
            <a:pPr>
              <a:spcAft>
                <a:spcPts val="800"/>
              </a:spcAft>
            </a:pPr>
            <a:r>
              <a:rPr sz="1800">
                <a:solidFill>
                  <a:srgbClr val="E6E6E6"/>
                </a:solidFill>
              </a:rPr>
              <a:t>• </a:t>
            </a:r>
            <a:r>
              <a:rPr sz="1800" b="1">
                <a:solidFill>
                  <a:srgbClr val="FFAA3C"/>
                </a:solidFill>
              </a:rPr>
              <a:t>Goal Hijacking</a:t>
            </a:r>
            <a:r>
              <a:rPr sz="1800">
                <a:solidFill>
                  <a:srgbClr val="E6E6E6"/>
                </a:solidFill>
              </a:rPr>
              <a:t> — redirects model objective via competing instructions ('ignore previous...')</a:t>
            </a:r>
          </a:p>
          <a:p>
            <a:pPr>
              <a:spcAft>
                <a:spcPts val="800"/>
              </a:spcAft>
            </a:pPr>
            <a:r>
              <a:rPr sz="1800">
                <a:solidFill>
                  <a:srgbClr val="E6E6E6"/>
                </a:solidFill>
              </a:rPr>
              <a:t>• </a:t>
            </a:r>
            <a:r>
              <a:rPr sz="1800" b="1">
                <a:solidFill>
                  <a:srgbClr val="FFAA3C"/>
                </a:solidFill>
              </a:rPr>
              <a:t>Prompt Leaking</a:t>
            </a:r>
            <a:r>
              <a:rPr sz="1800">
                <a:solidFill>
                  <a:srgbClr val="E6E6E6"/>
                </a:solidFill>
              </a:rPr>
              <a:t> — extracts system prompts, revealing guardrails for targeted follow-up attacks</a:t>
            </a:r>
          </a:p>
        </p:txBody>
      </p:sp>
      <p:sp>
        <p:nvSpPr>
          <p:cNvPr id="4" name="TextBox 3"/>
          <p:cNvSpPr txBox="1"/>
          <p:nvPr/>
        </p:nvSpPr>
        <p:spPr>
          <a:xfrm>
            <a:off x="731520" y="5029200"/>
            <a:ext cx="10515600" cy="731520"/>
          </a:xfrm>
          <a:prstGeom prst="rect">
            <a:avLst/>
          </a:prstGeom>
          <a:noFill/>
        </p:spPr>
        <p:txBody>
          <a:bodyPr wrap="square">
            <a:spAutoFit/>
          </a:bodyPr>
          <a:lstStyle/>
          <a:p>
            <a:pPr algn="l">
              <a:defRPr sz="1300" b="0">
                <a:solidFill>
                  <a:srgbClr val="8C8C8C"/>
                </a:solidFill>
              </a:defRPr>
            </a:pPr>
            <a:r>
              <a:t>Earliest and most widely studied class — exploits the inability to distinguish instructions from data</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8C8C8C"/>
                </a:solidFill>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731520" y="365760"/>
            <a:ext cx="10515600" cy="731520"/>
          </a:xfrm>
          <a:prstGeom prst="rect">
            <a:avLst/>
          </a:prstGeom>
          <a:noFill/>
        </p:spPr>
        <p:txBody>
          <a:bodyPr wrap="square">
            <a:spAutoFit/>
          </a:bodyPr>
          <a:lstStyle/>
          <a:p>
            <a:pPr algn="l">
              <a:defRPr sz="3200" b="1">
                <a:solidFill>
                  <a:srgbClr val="64B4FF"/>
                </a:solidFill>
              </a:defRPr>
            </a:pPr>
            <a:r>
              <a:t>Attack Taxonomy: Indirect Injection</a:t>
            </a:r>
          </a:p>
        </p:txBody>
      </p:sp>
      <p:sp>
        <p:nvSpPr>
          <p:cNvPr id="3" name="TextBox 2"/>
          <p:cNvSpPr txBox="1"/>
          <p:nvPr/>
        </p:nvSpPr>
        <p:spPr>
          <a:xfrm>
            <a:off x="731520" y="1371600"/>
            <a:ext cx="10515600" cy="4572000"/>
          </a:xfrm>
          <a:prstGeom prst="rect">
            <a:avLst/>
          </a:prstGeom>
          <a:noFill/>
        </p:spPr>
        <p:txBody>
          <a:bodyPr wrap="square">
            <a:spAutoFit/>
          </a:bodyPr>
          <a:lstStyle/>
          <a:p>
            <a:pPr>
              <a:spcAft>
                <a:spcPts val="800"/>
              </a:spcAft>
            </a:pPr>
            <a:r>
              <a:rPr sz="1800">
                <a:solidFill>
                  <a:srgbClr val="E6E6E6"/>
                </a:solidFill>
              </a:rPr>
              <a:t>• </a:t>
            </a:r>
            <a:r>
              <a:rPr sz="1800" b="1">
                <a:solidFill>
                  <a:srgbClr val="FFAA3C"/>
                </a:solidFill>
              </a:rPr>
              <a:t>RAG Poisoning</a:t>
            </a:r>
            <a:r>
              <a:rPr sz="1800">
                <a:solidFill>
                  <a:srgbClr val="E6E6E6"/>
                </a:solidFill>
              </a:rPr>
              <a:t> — malicious instructions in knowledge base documents execute on retrieval</a:t>
            </a:r>
          </a:p>
          <a:p>
            <a:pPr>
              <a:spcAft>
                <a:spcPts val="800"/>
              </a:spcAft>
            </a:pPr>
            <a:r>
              <a:rPr sz="1800">
                <a:solidFill>
                  <a:srgbClr val="E6E6E6"/>
                </a:solidFill>
              </a:rPr>
              <a:t>• </a:t>
            </a:r>
            <a:r>
              <a:rPr sz="1800" b="1">
                <a:solidFill>
                  <a:srgbClr val="FFAA3C"/>
                </a:solidFill>
              </a:rPr>
              <a:t>Web Content Injection</a:t>
            </a:r>
            <a:r>
              <a:rPr sz="1800">
                <a:solidFill>
                  <a:srgbClr val="E6E6E6"/>
                </a:solidFill>
              </a:rPr>
              <a:t> — hidden payloads in web pages target LLM browsing agents and summarizers</a:t>
            </a:r>
          </a:p>
          <a:p>
            <a:pPr>
              <a:spcAft>
                <a:spcPts val="800"/>
              </a:spcAft>
            </a:pPr>
            <a:r>
              <a:rPr sz="1800">
                <a:solidFill>
                  <a:srgbClr val="E6E6E6"/>
                </a:solidFill>
              </a:rPr>
              <a:t>• </a:t>
            </a:r>
            <a:r>
              <a:rPr sz="1800" b="1">
                <a:solidFill>
                  <a:srgbClr val="FFAA3C"/>
                </a:solidFill>
              </a:rPr>
              <a:t>Email &amp; Document Injection</a:t>
            </a:r>
            <a:r>
              <a:rPr sz="1800">
                <a:solidFill>
                  <a:srgbClr val="E6E6E6"/>
                </a:solidFill>
              </a:rPr>
              <a:t> — instructions in emails/PDFs trigger unauthorized AI assistant actions</a:t>
            </a:r>
          </a:p>
        </p:txBody>
      </p:sp>
      <p:sp>
        <p:nvSpPr>
          <p:cNvPr id="4" name="TextBox 3"/>
          <p:cNvSpPr txBox="1"/>
          <p:nvPr/>
        </p:nvSpPr>
        <p:spPr>
          <a:xfrm>
            <a:off x="731520" y="5029200"/>
            <a:ext cx="10515600" cy="731520"/>
          </a:xfrm>
          <a:prstGeom prst="rect">
            <a:avLst/>
          </a:prstGeom>
          <a:noFill/>
        </p:spPr>
        <p:txBody>
          <a:bodyPr wrap="square">
            <a:spAutoFit/>
          </a:bodyPr>
          <a:lstStyle/>
          <a:p>
            <a:pPr algn="l">
              <a:defRPr sz="1300" b="0">
                <a:solidFill>
                  <a:srgbClr val="8C8C8C"/>
                </a:solidFill>
              </a:defRPr>
            </a:pPr>
            <a:r>
              <a:t>Most dangerous vector for LLM-integrated apps — attacker never interacts with the model directly (Greshake et al., 2023)</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8C8C8C"/>
                </a:solidFill>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731520" y="365760"/>
            <a:ext cx="10515600" cy="731520"/>
          </a:xfrm>
          <a:prstGeom prst="rect">
            <a:avLst/>
          </a:prstGeom>
          <a:noFill/>
        </p:spPr>
        <p:txBody>
          <a:bodyPr wrap="square">
            <a:spAutoFit/>
          </a:bodyPr>
          <a:lstStyle/>
          <a:p>
            <a:pPr algn="l">
              <a:defRPr sz="3200" b="1">
                <a:solidFill>
                  <a:srgbClr val="64B4FF"/>
                </a:solidFill>
              </a:defRPr>
            </a:pPr>
            <a:r>
              <a:t>Attack Taxonomy Visualization</a:t>
            </a:r>
          </a:p>
        </p:txBody>
      </p:sp>
      <p:sp>
        <p:nvSpPr>
          <p:cNvPr id="3" name="TextBox 2"/>
          <p:cNvSpPr txBox="1"/>
          <p:nvPr/>
        </p:nvSpPr>
        <p:spPr>
          <a:xfrm>
            <a:off x="731520" y="1097280"/>
            <a:ext cx="10515600" cy="365760"/>
          </a:xfrm>
          <a:prstGeom prst="rect">
            <a:avLst/>
          </a:prstGeom>
          <a:noFill/>
        </p:spPr>
        <p:txBody>
          <a:bodyPr wrap="square">
            <a:spAutoFit/>
          </a:bodyPr>
          <a:lstStyle/>
          <a:p>
            <a:pPr algn="l">
              <a:defRPr sz="1300" b="0">
                <a:solidFill>
                  <a:srgbClr val="8C8C8C"/>
                </a:solidFill>
              </a:defRPr>
            </a:pPr>
            <a:r>
              <a:t>Six categories progressing from well-understood (direct) to emerging threats (autonomous propagation)</a:t>
            </a:r>
          </a:p>
        </p:txBody>
      </p:sp>
      <p:pic>
        <p:nvPicPr>
          <p:cNvPr id="4" name="Picture 3" descr="attack_taxonomy.png"/>
          <p:cNvPicPr>
            <a:picLocks noChangeAspect="1"/>
          </p:cNvPicPr>
          <p:nvPr/>
        </p:nvPicPr>
        <p:blipFill>
          <a:blip r:embed="rId2"/>
          <a:stretch>
            <a:fillRect/>
          </a:stretch>
        </p:blipFill>
        <p:spPr>
          <a:xfrm>
            <a:off x="1828800" y="1645920"/>
            <a:ext cx="8229600" cy="4572000"/>
          </a:xfrm>
          <a:prstGeom prst="rect">
            <a:avLst/>
          </a:prstGeom>
        </p:spPr>
      </p:pic>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8C8C8C"/>
                </a:solidFill>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731520" y="365760"/>
            <a:ext cx="10515600" cy="731520"/>
          </a:xfrm>
          <a:prstGeom prst="rect">
            <a:avLst/>
          </a:prstGeom>
          <a:noFill/>
        </p:spPr>
        <p:txBody>
          <a:bodyPr wrap="square">
            <a:spAutoFit/>
          </a:bodyPr>
          <a:lstStyle/>
          <a:p>
            <a:pPr algn="l">
              <a:defRPr sz="3200" b="1">
                <a:solidFill>
                  <a:srgbClr val="64B4FF"/>
                </a:solidFill>
              </a:defRPr>
            </a:pPr>
            <a:r>
              <a:t>Real-World Risks: Critical Impact</a:t>
            </a:r>
          </a:p>
        </p:txBody>
      </p:sp>
      <p:sp>
        <p:nvSpPr>
          <p:cNvPr id="3" name="TextBox 2"/>
          <p:cNvSpPr txBox="1"/>
          <p:nvPr/>
        </p:nvSpPr>
        <p:spPr>
          <a:xfrm>
            <a:off x="731520" y="1371600"/>
            <a:ext cx="10515600" cy="4572000"/>
          </a:xfrm>
          <a:prstGeom prst="rect">
            <a:avLst/>
          </a:prstGeom>
          <a:noFill/>
        </p:spPr>
        <p:txBody>
          <a:bodyPr wrap="square">
            <a:spAutoFit/>
          </a:bodyPr>
          <a:lstStyle/>
          <a:p>
            <a:pPr>
              <a:spcAft>
                <a:spcPts val="800"/>
              </a:spcAft>
            </a:pPr>
            <a:r>
              <a:rPr sz="1700">
                <a:solidFill>
                  <a:srgbClr val="E6E6E6"/>
                </a:solidFill>
              </a:rPr>
              <a:t>• </a:t>
            </a:r>
            <a:r>
              <a:rPr sz="1700" b="1">
                <a:solidFill>
                  <a:srgbClr val="FF5050"/>
                </a:solidFill>
              </a:rPr>
              <a:t>Data Exfiltration</a:t>
            </a:r>
            <a:r>
              <a:rPr sz="1700">
                <a:solidFill>
                  <a:srgbClr val="E6E6E6"/>
                </a:solidFill>
              </a:rPr>
              <a:t> — System prompt extraction from ChatGPT custom GPTs</a:t>
            </a:r>
          </a:p>
          <a:p>
            <a:pPr>
              <a:spcAft>
                <a:spcPts val="800"/>
              </a:spcAft>
            </a:pPr>
            <a:r>
              <a:rPr sz="1700">
                <a:solidFill>
                  <a:srgbClr val="E6E6E6"/>
                </a:solidFill>
              </a:rPr>
              <a:t>• </a:t>
            </a:r>
            <a:r>
              <a:rPr sz="1700" b="1">
                <a:solidFill>
                  <a:srgbClr val="FF5050"/>
                </a:solidFill>
              </a:rPr>
              <a:t>Unauthorized Actions</a:t>
            </a:r>
            <a:r>
              <a:rPr sz="1700">
                <a:solidFill>
                  <a:srgbClr val="E6E6E6"/>
                </a:solidFill>
              </a:rPr>
              <a:t> — AI email assistants sending messages to attacker-specified recipients</a:t>
            </a:r>
          </a:p>
          <a:p>
            <a:pPr>
              <a:spcAft>
                <a:spcPts val="800"/>
              </a:spcAft>
            </a:pPr>
            <a:r>
              <a:rPr sz="1700">
                <a:solidFill>
                  <a:srgbClr val="E6E6E6"/>
                </a:solidFill>
              </a:rPr>
              <a:t>• </a:t>
            </a:r>
            <a:r>
              <a:rPr sz="1700" b="1">
                <a:solidFill>
                  <a:srgbClr val="FF5050"/>
                </a:solidFill>
              </a:rPr>
              <a:t>System Compromise</a:t>
            </a:r>
            <a:r>
              <a:rPr sz="1700">
                <a:solidFill>
                  <a:srgbClr val="E6E6E6"/>
                </a:solidFill>
              </a:rPr>
              <a:t> — Code execution through AI coding assistants processing malicious repository files</a:t>
            </a:r>
          </a:p>
        </p:txBody>
      </p:sp>
      <p:sp>
        <p:nvSpPr>
          <p:cNvPr id="4" name="TextBox 3"/>
          <p:cNvSpPr txBox="1"/>
          <p:nvPr/>
        </p:nvSpPr>
        <p:spPr>
          <a:xfrm>
            <a:off x="731520" y="5303520"/>
            <a:ext cx="3657600" cy="457200"/>
          </a:xfrm>
          <a:prstGeom prst="rect">
            <a:avLst/>
          </a:prstGeom>
          <a:noFill/>
        </p:spPr>
        <p:txBody>
          <a:bodyPr wrap="none">
            <a:spAutoFit/>
          </a:bodyPr>
          <a:lstStyle/>
          <a:p>
            <a:r>
              <a:rPr sz="1200" b="1">
                <a:solidFill>
                  <a:srgbClr val="FF5050"/>
                </a:solidFill>
              </a:rPr>
              <a:t>● CRITICAL SEVERITY</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8C8C8C"/>
                </a:solidFill>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731520" y="365760"/>
            <a:ext cx="10515600" cy="731520"/>
          </a:xfrm>
          <a:prstGeom prst="rect">
            <a:avLst/>
          </a:prstGeom>
          <a:noFill/>
        </p:spPr>
        <p:txBody>
          <a:bodyPr wrap="square">
            <a:spAutoFit/>
          </a:bodyPr>
          <a:lstStyle/>
          <a:p>
            <a:pPr algn="l">
              <a:defRPr sz="3200" b="1">
                <a:solidFill>
                  <a:srgbClr val="64B4FF"/>
                </a:solidFill>
              </a:defRPr>
            </a:pPr>
            <a:r>
              <a:t>Risks: Broader Impact Categories</a:t>
            </a:r>
          </a:p>
        </p:txBody>
      </p:sp>
      <p:sp>
        <p:nvSpPr>
          <p:cNvPr id="3" name="TextBox 2"/>
          <p:cNvSpPr txBox="1"/>
          <p:nvPr/>
        </p:nvSpPr>
        <p:spPr>
          <a:xfrm>
            <a:off x="731520" y="1371600"/>
            <a:ext cx="10515600" cy="4572000"/>
          </a:xfrm>
          <a:prstGeom prst="rect">
            <a:avLst/>
          </a:prstGeom>
          <a:noFill/>
        </p:spPr>
        <p:txBody>
          <a:bodyPr wrap="square">
            <a:spAutoFit/>
          </a:bodyPr>
          <a:lstStyle/>
          <a:p>
            <a:pPr>
              <a:spcAft>
                <a:spcPts val="800"/>
              </a:spcAft>
            </a:pPr>
            <a:r>
              <a:rPr sz="1700">
                <a:solidFill>
                  <a:srgbClr val="E6E6E6"/>
                </a:solidFill>
              </a:rPr>
              <a:t>• </a:t>
            </a:r>
            <a:r>
              <a:rPr sz="1700" b="1">
                <a:solidFill>
                  <a:srgbClr val="FFAA3C"/>
                </a:solidFill>
              </a:rPr>
              <a:t>Content Manipulation</a:t>
            </a:r>
            <a:r>
              <a:rPr sz="1700">
                <a:solidFill>
                  <a:srgbClr val="E6E6E6"/>
                </a:solidFill>
              </a:rPr>
              <a:t> — Attackers can use prompt injection to control, bias, or corrupt the model's output without detect...</a:t>
            </a:r>
          </a:p>
          <a:p>
            <a:pPr>
              <a:spcAft>
                <a:spcPts val="800"/>
              </a:spcAft>
            </a:pPr>
            <a:r>
              <a:rPr sz="1700">
                <a:solidFill>
                  <a:srgbClr val="E6E6E6"/>
                </a:solidFill>
              </a:rPr>
              <a:t>• </a:t>
            </a:r>
            <a:r>
              <a:rPr sz="1700" b="1">
                <a:solidFill>
                  <a:srgbClr val="FFAA3C"/>
                </a:solidFill>
              </a:rPr>
              <a:t>Supply Chain and Downstream Propagation</a:t>
            </a:r>
            <a:r>
              <a:rPr sz="1700">
                <a:solidFill>
                  <a:srgbClr val="E6E6E6"/>
                </a:solidFill>
              </a:rPr>
              <a:t> — Prompt injection can propagate through AI supply chains, where the output of one compromised AI s...</a:t>
            </a:r>
          </a:p>
        </p:txBody>
      </p:sp>
      <p:sp>
        <p:nvSpPr>
          <p:cNvPr id="4" name="TextBox 3"/>
          <p:cNvSpPr txBox="1"/>
          <p:nvPr/>
        </p:nvSpPr>
        <p:spPr>
          <a:xfrm>
            <a:off x="731520" y="5303520"/>
            <a:ext cx="3657600" cy="457200"/>
          </a:xfrm>
          <a:prstGeom prst="rect">
            <a:avLst/>
          </a:prstGeom>
          <a:noFill/>
        </p:spPr>
        <p:txBody>
          <a:bodyPr wrap="none">
            <a:spAutoFit/>
          </a:bodyPr>
          <a:lstStyle/>
          <a:p>
            <a:r>
              <a:rPr sz="1200" b="1">
                <a:solidFill>
                  <a:srgbClr val="FFAA3C"/>
                </a:solidFill>
              </a:rPr>
              <a:t>● HIGH SEVERITY</a:t>
            </a:r>
          </a:p>
        </p:txBody>
      </p:sp>
      <p:sp>
        <p:nvSpPr>
          <p:cNvPr id="5" name="TextBox 4"/>
          <p:cNvSpPr txBox="1"/>
          <p:nvPr/>
        </p:nvSpPr>
        <p:spPr>
          <a:xfrm>
            <a:off x="4572000" y="5303520"/>
            <a:ext cx="6858000" cy="457200"/>
          </a:xfrm>
          <a:prstGeom prst="rect">
            <a:avLst/>
          </a:prstGeom>
          <a:noFill/>
        </p:spPr>
        <p:txBody>
          <a:bodyPr wrap="square">
            <a:spAutoFit/>
          </a:bodyPr>
          <a:lstStyle/>
          <a:p>
            <a:pPr algn="l">
              <a:defRPr sz="1300" b="0">
                <a:solidFill>
                  <a:srgbClr val="8C8C8C"/>
                </a:solidFill>
              </a:defRPr>
            </a:pPr>
            <a:r>
              <a:t>Impact scales with agent permission scope — more tools = more risk</a:t>
            </a:r>
          </a:p>
        </p:txBody>
      </p:sp>
      <p:sp>
        <p:nvSpPr>
          <p:cNvPr id="6" name="TextBox 5"/>
          <p:cNvSpPr txBox="1"/>
          <p:nvPr/>
        </p:nvSpPr>
        <p:spPr>
          <a:xfrm>
            <a:off x="11247120" y="6400800"/>
            <a:ext cx="731520" cy="365760"/>
          </a:xfrm>
          <a:prstGeom prst="rect">
            <a:avLst/>
          </a:prstGeom>
          <a:noFill/>
        </p:spPr>
        <p:txBody>
          <a:bodyPr wrap="square">
            <a:spAutoFit/>
          </a:bodyPr>
          <a:lstStyle/>
          <a:p>
            <a:pPr algn="r">
              <a:defRPr sz="1000" b="0">
                <a:solidFill>
                  <a:srgbClr val="8C8C8C"/>
                </a:solidFill>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731520" y="365760"/>
            <a:ext cx="10515600" cy="731520"/>
          </a:xfrm>
          <a:prstGeom prst="rect">
            <a:avLst/>
          </a:prstGeom>
          <a:noFill/>
        </p:spPr>
        <p:txBody>
          <a:bodyPr wrap="square">
            <a:spAutoFit/>
          </a:bodyPr>
          <a:lstStyle/>
          <a:p>
            <a:pPr algn="l">
              <a:defRPr sz="3200" b="1">
                <a:solidFill>
                  <a:srgbClr val="64B4FF"/>
                </a:solidFill>
              </a:defRPr>
            </a:pPr>
            <a:r>
              <a:t>Detection Techniques: Pattern-Based</a:t>
            </a:r>
          </a:p>
        </p:txBody>
      </p:sp>
      <p:sp>
        <p:nvSpPr>
          <p:cNvPr id="3" name="TextBox 2"/>
          <p:cNvSpPr txBox="1"/>
          <p:nvPr/>
        </p:nvSpPr>
        <p:spPr>
          <a:xfrm>
            <a:off x="731520" y="1371600"/>
            <a:ext cx="10515600" cy="4572000"/>
          </a:xfrm>
          <a:prstGeom prst="rect">
            <a:avLst/>
          </a:prstGeom>
          <a:noFill/>
        </p:spPr>
        <p:txBody>
          <a:bodyPr wrap="square">
            <a:spAutoFit/>
          </a:bodyPr>
          <a:lstStyle/>
          <a:p>
            <a:pPr>
              <a:spcAft>
                <a:spcPts val="800"/>
              </a:spcAft>
            </a:pPr>
            <a:r>
              <a:rPr sz="1700">
                <a:solidFill>
                  <a:srgbClr val="E6E6E6"/>
                </a:solidFill>
              </a:rPr>
              <a:t>• </a:t>
            </a:r>
            <a:r>
              <a:rPr sz="1700" b="1">
                <a:solidFill>
                  <a:srgbClr val="FFAA3C"/>
                </a:solidFill>
              </a:rPr>
              <a:t>Heuristic/Rule-Based</a:t>
            </a:r>
            <a:r>
              <a:rPr sz="1700">
                <a:solidFill>
                  <a:srgbClr val="E6E6E6"/>
                </a:solidFill>
              </a:rPr>
              <a:t> — keyword and regex matching against known injection patterns (Rebuff, WAF rules)</a:t>
            </a:r>
          </a:p>
          <a:p>
            <a:pPr>
              <a:spcAft>
                <a:spcPts val="800"/>
              </a:spcAft>
            </a:pPr>
            <a:r>
              <a:rPr sz="1700">
                <a:solidFill>
                  <a:srgbClr val="E6E6E6"/>
                </a:solidFill>
              </a:rPr>
              <a:t>• </a:t>
            </a:r>
            <a:r>
              <a:rPr sz="1700" b="1">
                <a:solidFill>
                  <a:srgbClr val="FFAA3C"/>
                </a:solidFill>
              </a:rPr>
              <a:t>ML Classification</a:t>
            </a:r>
            <a:r>
              <a:rPr sz="1700">
                <a:solidFill>
                  <a:srgbClr val="E6E6E6"/>
                </a:solidFill>
              </a:rPr>
              <a:t> — trained classifiers flag adversarial inputs via learned features (Lakera Guard, embedding similarity)</a:t>
            </a:r>
          </a:p>
          <a:p>
            <a:pPr>
              <a:spcAft>
                <a:spcPts val="800"/>
              </a:spcAft>
            </a:pPr>
            <a:r>
              <a:rPr sz="1700">
                <a:solidFill>
                  <a:srgbClr val="E6E6E6"/>
                </a:solidFill>
              </a:rPr>
              <a:t>• </a:t>
            </a:r>
            <a:r>
              <a:rPr sz="1700" b="1">
                <a:solidFill>
                  <a:srgbClr val="FFAA3C"/>
                </a:solidFill>
              </a:rPr>
              <a:t>Perplexity Analysis</a:t>
            </a:r>
            <a:r>
              <a:rPr sz="1700">
                <a:solidFill>
                  <a:srgbClr val="E6E6E6"/>
                </a:solidFill>
              </a:rPr>
              <a:t> — statistical anomaly detection flags unusual token distributions in adversarial suffixes</a:t>
            </a:r>
          </a:p>
        </p:txBody>
      </p:sp>
      <p:sp>
        <p:nvSpPr>
          <p:cNvPr id="4" name="TextBox 3"/>
          <p:cNvSpPr txBox="1"/>
          <p:nvPr/>
        </p:nvSpPr>
        <p:spPr>
          <a:xfrm>
            <a:off x="731520" y="5029200"/>
            <a:ext cx="10515600" cy="914400"/>
          </a:xfrm>
          <a:prstGeom prst="rect">
            <a:avLst/>
          </a:prstGeom>
          <a:noFill/>
        </p:spPr>
        <p:txBody>
          <a:bodyPr wrap="square">
            <a:spAutoFit/>
          </a:bodyPr>
          <a:lstStyle/>
          <a:p>
            <a:r>
              <a:rPr sz="1400" b="1">
                <a:solidFill>
                  <a:srgbClr val="FFAA3C"/>
                </a:solidFill>
              </a:rPr>
              <a:t>Tradeoff: </a:t>
            </a:r>
            <a:r>
              <a:rPr sz="1400">
                <a:solidFill>
                  <a:srgbClr val="B4B4B4"/>
                </a:solidFill>
              </a:rPr>
              <a:t>Fast and low-cost, but reactive — novel attacks consistently evade pattern-based detection</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8C8C8C"/>
                </a:solidFill>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731520" y="365760"/>
            <a:ext cx="10515600" cy="731520"/>
          </a:xfrm>
          <a:prstGeom prst="rect">
            <a:avLst/>
          </a:prstGeom>
          <a:noFill/>
        </p:spPr>
        <p:txBody>
          <a:bodyPr wrap="square">
            <a:spAutoFit/>
          </a:bodyPr>
          <a:lstStyle/>
          <a:p>
            <a:pPr algn="l">
              <a:defRPr sz="3200" b="1">
                <a:solidFill>
                  <a:srgbClr val="64B4FF"/>
                </a:solidFill>
              </a:defRPr>
            </a:pPr>
            <a:r>
              <a:t>Detection Techniques: Active Defense</a:t>
            </a:r>
          </a:p>
        </p:txBody>
      </p:sp>
      <p:sp>
        <p:nvSpPr>
          <p:cNvPr id="3" name="TextBox 2"/>
          <p:cNvSpPr txBox="1"/>
          <p:nvPr/>
        </p:nvSpPr>
        <p:spPr>
          <a:xfrm>
            <a:off x="731520" y="1371600"/>
            <a:ext cx="10515600" cy="4572000"/>
          </a:xfrm>
          <a:prstGeom prst="rect">
            <a:avLst/>
          </a:prstGeom>
          <a:noFill/>
        </p:spPr>
        <p:txBody>
          <a:bodyPr wrap="square">
            <a:spAutoFit/>
          </a:bodyPr>
          <a:lstStyle/>
          <a:p>
            <a:pPr>
              <a:spcAft>
                <a:spcPts val="800"/>
              </a:spcAft>
            </a:pPr>
            <a:r>
              <a:rPr sz="1700">
                <a:solidFill>
                  <a:srgbClr val="E6E6E6"/>
                </a:solidFill>
              </a:rPr>
              <a:t>• </a:t>
            </a:r>
            <a:r>
              <a:rPr sz="1700" b="1">
                <a:solidFill>
                  <a:srgbClr val="FFAA3C"/>
                </a:solidFill>
              </a:rPr>
              <a:t>Canary Tokens</a:t>
            </a:r>
            <a:r>
              <a:rPr sz="1700">
                <a:solidFill>
                  <a:srgbClr val="E6E6E6"/>
                </a:solidFill>
              </a:rPr>
              <a:t> — secret strings planted in system prompt — if they appear in output, injection succeeded</a:t>
            </a:r>
          </a:p>
          <a:p>
            <a:pPr>
              <a:spcAft>
                <a:spcPts val="800"/>
              </a:spcAft>
            </a:pPr>
            <a:r>
              <a:rPr sz="1700">
                <a:solidFill>
                  <a:srgbClr val="E6E6E6"/>
                </a:solidFill>
              </a:rPr>
              <a:t>• </a:t>
            </a:r>
            <a:r>
              <a:rPr sz="1700" b="1">
                <a:solidFill>
                  <a:srgbClr val="FFAA3C"/>
                </a:solidFill>
              </a:rPr>
              <a:t>LLM-as-Judge</a:t>
            </a:r>
            <a:r>
              <a:rPr sz="1700">
                <a:solidFill>
                  <a:srgbClr val="E6E6E6"/>
                </a:solidFill>
              </a:rPr>
              <a:t> — secondary model evaluates whether input attempts to subvert intended behavior</a:t>
            </a:r>
          </a:p>
        </p:txBody>
      </p:sp>
      <p:sp>
        <p:nvSpPr>
          <p:cNvPr id="4" name="TextBox 3"/>
          <p:cNvSpPr txBox="1"/>
          <p:nvPr/>
        </p:nvSpPr>
        <p:spPr>
          <a:xfrm>
            <a:off x="731520" y="4114800"/>
            <a:ext cx="10515600" cy="1371600"/>
          </a:xfrm>
          <a:prstGeom prst="rect">
            <a:avLst/>
          </a:prstGeom>
          <a:noFill/>
        </p:spPr>
        <p:txBody>
          <a:bodyPr wrap="square">
            <a:spAutoFit/>
          </a:bodyPr>
          <a:lstStyle/>
          <a:p>
            <a:r>
              <a:rPr sz="1400" b="1">
                <a:solidFill>
                  <a:srgbClr val="FFAA3C"/>
                </a:solidFill>
              </a:rPr>
              <a:t>Tradeoff: </a:t>
            </a:r>
            <a:r>
              <a:rPr sz="1400">
                <a:solidFill>
                  <a:srgbClr val="B4B4B4"/>
                </a:solidFill>
              </a:rPr>
              <a:t>Smarter detection, but higher cost — LLM-as-judge adds latency and is itself vulnerable to injection</a:t>
            </a:r>
          </a:p>
          <a:p>
            <a:pPr>
              <a:spcBef>
                <a:spcPts val="1600"/>
              </a:spcBef>
            </a:pPr>
            <a:r>
              <a:rPr sz="1600" b="1">
                <a:solidFill>
                  <a:srgbClr val="64B4FF"/>
                </a:solidFill>
              </a:rPr>
              <a:t>→ No single detection method is sufficient — defense in depth is required</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8C8C8C"/>
                </a:solidFill>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731520" y="365760"/>
            <a:ext cx="10515600" cy="731520"/>
          </a:xfrm>
          <a:prstGeom prst="rect">
            <a:avLst/>
          </a:prstGeom>
          <a:noFill/>
        </p:spPr>
        <p:txBody>
          <a:bodyPr wrap="square">
            <a:spAutoFit/>
          </a:bodyPr>
          <a:lstStyle/>
          <a:p>
            <a:pPr algn="l">
              <a:defRPr sz="3200" b="1">
                <a:solidFill>
                  <a:srgbClr val="64B4FF"/>
                </a:solidFill>
              </a:defRPr>
            </a:pPr>
            <a:r>
              <a:t>Detection &amp; Defense Pipeline</a:t>
            </a:r>
          </a:p>
        </p:txBody>
      </p:sp>
      <p:sp>
        <p:nvSpPr>
          <p:cNvPr id="3" name="TextBox 2"/>
          <p:cNvSpPr txBox="1"/>
          <p:nvPr/>
        </p:nvSpPr>
        <p:spPr>
          <a:xfrm>
            <a:off x="731520" y="1097280"/>
            <a:ext cx="10515600" cy="365760"/>
          </a:xfrm>
          <a:prstGeom prst="rect">
            <a:avLst/>
          </a:prstGeom>
          <a:noFill/>
        </p:spPr>
        <p:txBody>
          <a:bodyPr wrap="square">
            <a:spAutoFit/>
          </a:bodyPr>
          <a:lstStyle/>
          <a:p>
            <a:pPr algn="l">
              <a:defRPr sz="1300" b="0">
                <a:solidFill>
                  <a:srgbClr val="8C8C8C"/>
                </a:solidFill>
              </a:defRPr>
            </a:pPr>
            <a:r>
              <a:t>Multi-layered pipeline: input sanitization → detection → model processing → output filtering → monitoring</a:t>
            </a:r>
          </a:p>
        </p:txBody>
      </p:sp>
      <p:pic>
        <p:nvPicPr>
          <p:cNvPr id="4" name="Picture 3" descr="defense_flow.png"/>
          <p:cNvPicPr>
            <a:picLocks noChangeAspect="1"/>
          </p:cNvPicPr>
          <p:nvPr/>
        </p:nvPicPr>
        <p:blipFill>
          <a:blip r:embed="rId2"/>
          <a:stretch>
            <a:fillRect/>
          </a:stretch>
        </p:blipFill>
        <p:spPr>
          <a:xfrm>
            <a:off x="1828800" y="1645920"/>
            <a:ext cx="8229600" cy="4572000"/>
          </a:xfrm>
          <a:prstGeom prst="rect">
            <a:avLst/>
          </a:prstGeom>
        </p:spPr>
      </p:pic>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8C8C8C"/>
                </a:solidFill>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731520" y="365760"/>
            <a:ext cx="10515600" cy="731520"/>
          </a:xfrm>
          <a:prstGeom prst="rect">
            <a:avLst/>
          </a:prstGeom>
          <a:noFill/>
        </p:spPr>
        <p:txBody>
          <a:bodyPr wrap="square">
            <a:spAutoFit/>
          </a:bodyPr>
          <a:lstStyle/>
          <a:p>
            <a:pPr algn="l">
              <a:defRPr sz="3200" b="1">
                <a:solidFill>
                  <a:srgbClr val="64B4FF"/>
                </a:solidFill>
              </a:defRPr>
            </a:pPr>
            <a:r>
              <a:t>Prevention Strategies</a:t>
            </a:r>
          </a:p>
        </p:txBody>
      </p:sp>
      <p:sp>
        <p:nvSpPr>
          <p:cNvPr id="3" name="TextBox 2"/>
          <p:cNvSpPr txBox="1"/>
          <p:nvPr/>
        </p:nvSpPr>
        <p:spPr>
          <a:xfrm>
            <a:off x="731520" y="1280160"/>
            <a:ext cx="10515600" cy="4572000"/>
          </a:xfrm>
          <a:prstGeom prst="rect">
            <a:avLst/>
          </a:prstGeom>
          <a:noFill/>
        </p:spPr>
        <p:txBody>
          <a:bodyPr wrap="square">
            <a:spAutoFit/>
          </a:bodyPr>
          <a:lstStyle/>
          <a:p>
            <a:pPr>
              <a:spcAft>
                <a:spcPts val="800"/>
              </a:spcAft>
            </a:pPr>
            <a:r>
              <a:rPr sz="1600">
                <a:solidFill>
                  <a:srgbClr val="E6E6E6"/>
                </a:solidFill>
              </a:rPr>
              <a:t>• </a:t>
            </a:r>
            <a:r>
              <a:rPr sz="1600" b="1">
                <a:solidFill>
                  <a:srgbClr val="FFAA3C"/>
                </a:solidFill>
              </a:rPr>
              <a:t>Instruction Hierarchy</a:t>
            </a:r>
            <a:r>
              <a:rPr sz="1600">
                <a:solidFill>
                  <a:srgbClr val="E6E6E6"/>
                </a:solidFill>
              </a:rPr>
              <a:t> — model-level privilege tiers — system &gt; user &gt; tool (Wallace et al., 2024)</a:t>
            </a:r>
          </a:p>
          <a:p>
            <a:pPr>
              <a:spcAft>
                <a:spcPts val="800"/>
              </a:spcAft>
            </a:pPr>
            <a:r>
              <a:rPr sz="1600">
                <a:solidFill>
                  <a:srgbClr val="E6E6E6"/>
                </a:solidFill>
              </a:rPr>
              <a:t>• </a:t>
            </a:r>
            <a:r>
              <a:rPr sz="1600" b="1">
                <a:solidFill>
                  <a:srgbClr val="FFAA3C"/>
                </a:solidFill>
              </a:rPr>
              <a:t>Input Sanitization</a:t>
            </a:r>
            <a:r>
              <a:rPr sz="1600">
                <a:solidFill>
                  <a:srgbClr val="E6E6E6"/>
                </a:solidFill>
              </a:rPr>
              <a:t> — strip injection patterns, normalize Unicode, enforce length limits</a:t>
            </a:r>
          </a:p>
          <a:p>
            <a:pPr>
              <a:spcAft>
                <a:spcPts val="800"/>
              </a:spcAft>
            </a:pPr>
            <a:r>
              <a:rPr sz="1600">
                <a:solidFill>
                  <a:srgbClr val="E6E6E6"/>
                </a:solidFill>
              </a:rPr>
              <a:t>• </a:t>
            </a:r>
            <a:r>
              <a:rPr sz="1600" b="1">
                <a:solidFill>
                  <a:srgbClr val="FFAA3C"/>
                </a:solidFill>
              </a:rPr>
              <a:t>Output Validation</a:t>
            </a:r>
            <a:r>
              <a:rPr sz="1600">
                <a:solidFill>
                  <a:srgbClr val="E6E6E6"/>
                </a:solidFill>
              </a:rPr>
              <a:t> — scan for data leakage, enforce format constraints, check canary tokens</a:t>
            </a:r>
          </a:p>
          <a:p>
            <a:pPr>
              <a:spcAft>
                <a:spcPts val="800"/>
              </a:spcAft>
            </a:pPr>
            <a:r>
              <a:rPr sz="1600">
                <a:solidFill>
                  <a:srgbClr val="E6E6E6"/>
                </a:solidFill>
              </a:rPr>
              <a:t>• </a:t>
            </a:r>
            <a:r>
              <a:rPr sz="1600" b="1">
                <a:solidFill>
                  <a:srgbClr val="FFAA3C"/>
                </a:solidFill>
              </a:rPr>
              <a:t>Sandboxing &amp; Isolation</a:t>
            </a:r>
            <a:r>
              <a:rPr sz="1600">
                <a:solidFill>
                  <a:srgbClr val="E6E6E6"/>
                </a:solidFill>
              </a:rPr>
              <a:t> — least-privilege tool access, user approval gates for destructive actions</a:t>
            </a:r>
          </a:p>
          <a:p>
            <a:pPr>
              <a:spcAft>
                <a:spcPts val="800"/>
              </a:spcAft>
            </a:pPr>
            <a:r>
              <a:rPr sz="1600">
                <a:solidFill>
                  <a:srgbClr val="E6E6E6"/>
                </a:solidFill>
              </a:rPr>
              <a:t>• </a:t>
            </a:r>
            <a:r>
              <a:rPr sz="1600" b="1">
                <a:solidFill>
                  <a:srgbClr val="FFAA3C"/>
                </a:solidFill>
              </a:rPr>
              <a:t>Guardrail Frameworks</a:t>
            </a:r>
            <a:r>
              <a:rPr sz="1600">
                <a:solidFill>
                  <a:srgbClr val="E6E6E6"/>
                </a:solidFill>
              </a:rPr>
              <a:t> — programmable middleware enforcing conversation policies (NeMo, Lakera)</a:t>
            </a:r>
          </a:p>
        </p:txBody>
      </p:sp>
      <p:sp>
        <p:nvSpPr>
          <p:cNvPr id="4" name="TextBox 3"/>
          <p:cNvSpPr txBox="1"/>
          <p:nvPr/>
        </p:nvSpPr>
        <p:spPr>
          <a:xfrm>
            <a:off x="731520" y="5486400"/>
            <a:ext cx="10515600" cy="548640"/>
          </a:xfrm>
          <a:prstGeom prst="rect">
            <a:avLst/>
          </a:prstGeom>
          <a:noFill/>
        </p:spPr>
        <p:txBody>
          <a:bodyPr wrap="none">
            <a:spAutoFit/>
          </a:bodyPr>
          <a:lstStyle/>
          <a:p>
            <a:r>
              <a:rPr sz="1400" b="1">
                <a:solidFill>
                  <a:srgbClr val="FFAA3C"/>
                </a:solidFill>
              </a:rPr>
              <a:t>→ No single strategy is complete — layer instruction hierarchy + sanitization + output filtering</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8C8C8C"/>
                </a:solidFill>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731520" y="365760"/>
            <a:ext cx="10515600" cy="731520"/>
          </a:xfrm>
          <a:prstGeom prst="rect">
            <a:avLst/>
          </a:prstGeom>
          <a:noFill/>
        </p:spPr>
        <p:txBody>
          <a:bodyPr wrap="square">
            <a:spAutoFit/>
          </a:bodyPr>
          <a:lstStyle/>
          <a:p>
            <a:pPr algn="l">
              <a:defRPr sz="3200" b="1">
                <a:solidFill>
                  <a:srgbClr val="64B4FF"/>
                </a:solidFill>
              </a:defRPr>
            </a:pPr>
            <a:r>
              <a:t>Layered Defense Architecture</a:t>
            </a:r>
          </a:p>
        </p:txBody>
      </p:sp>
      <p:sp>
        <p:nvSpPr>
          <p:cNvPr id="3" name="TextBox 2"/>
          <p:cNvSpPr txBox="1"/>
          <p:nvPr/>
        </p:nvSpPr>
        <p:spPr>
          <a:xfrm>
            <a:off x="731520" y="1097280"/>
            <a:ext cx="10515600" cy="365760"/>
          </a:xfrm>
          <a:prstGeom prst="rect">
            <a:avLst/>
          </a:prstGeom>
          <a:noFill/>
        </p:spPr>
        <p:txBody>
          <a:bodyPr wrap="square">
            <a:spAutoFit/>
          </a:bodyPr>
          <a:lstStyle/>
          <a:p>
            <a:pPr algn="l">
              <a:defRPr sz="1300" b="0">
                <a:solidFill>
                  <a:srgbClr val="8C8C8C"/>
                </a:solidFill>
              </a:defRPr>
            </a:pPr>
            <a:r>
              <a:t>Model-level, application-level, and system-level controls working in coordination</a:t>
            </a:r>
          </a:p>
        </p:txBody>
      </p:sp>
      <p:pic>
        <p:nvPicPr>
          <p:cNvPr id="4" name="Picture 3" descr="defense_architecture.png"/>
          <p:cNvPicPr>
            <a:picLocks noChangeAspect="1"/>
          </p:cNvPicPr>
          <p:nvPr/>
        </p:nvPicPr>
        <p:blipFill>
          <a:blip r:embed="rId2"/>
          <a:stretch>
            <a:fillRect/>
          </a:stretch>
        </p:blipFill>
        <p:spPr>
          <a:xfrm>
            <a:off x="1828800" y="1645920"/>
            <a:ext cx="8229600" cy="4572000"/>
          </a:xfrm>
          <a:prstGeom prst="rect">
            <a:avLst/>
          </a:prstGeom>
        </p:spPr>
      </p:pic>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8C8C8C"/>
                </a:solidFill>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731520" y="365760"/>
            <a:ext cx="10515600" cy="731520"/>
          </a:xfrm>
          <a:prstGeom prst="rect">
            <a:avLst/>
          </a:prstGeom>
          <a:noFill/>
        </p:spPr>
        <p:txBody>
          <a:bodyPr wrap="square">
            <a:spAutoFit/>
          </a:bodyPr>
          <a:lstStyle/>
          <a:p>
            <a:pPr algn="l">
              <a:defRPr sz="3200" b="1">
                <a:solidFill>
                  <a:srgbClr val="64B4FF"/>
                </a:solidFill>
              </a:defRPr>
            </a:pPr>
            <a:r>
              <a:t>Key References</a:t>
            </a:r>
          </a:p>
        </p:txBody>
      </p:sp>
      <p:sp>
        <p:nvSpPr>
          <p:cNvPr id="3" name="TextBox 2"/>
          <p:cNvSpPr txBox="1"/>
          <p:nvPr/>
        </p:nvSpPr>
        <p:spPr>
          <a:xfrm>
            <a:off x="731520" y="1188720"/>
            <a:ext cx="10515600" cy="2743200"/>
          </a:xfrm>
          <a:prstGeom prst="rect">
            <a:avLst/>
          </a:prstGeom>
          <a:noFill/>
        </p:spPr>
        <p:txBody>
          <a:bodyPr wrap="square">
            <a:spAutoFit/>
          </a:bodyPr>
          <a:lstStyle/>
          <a:p>
            <a:pPr>
              <a:spcAft>
                <a:spcPts val="600"/>
              </a:spcAft>
              <a:defRPr sz="1400">
                <a:solidFill>
                  <a:srgbClr val="E6E6E6"/>
                </a:solidFill>
              </a:defRPr>
            </a:pPr>
            <a:r>
              <a:t>• Abdallah, M., Barreno, A., Bensalah, F., et al. (2025). Prompt injection attacks in large language models and AI agent systems: A comprehensive review...</a:t>
            </a:r>
          </a:p>
          <a:p>
            <a:pPr>
              <a:spcAft>
                <a:spcPts val="600"/>
              </a:spcAft>
              <a:defRPr sz="1400">
                <a:solidFill>
                  <a:srgbClr val="E6E6E6"/>
                </a:solidFill>
              </a:defRPr>
            </a:pPr>
            <a:r>
              <a:t>• Greshake, K., Abdelnabi, S., Mishra, S., Endres, C., Giner, T., &amp; Fritz, M. (2023). Not what you've signed up for: Compromising real-world LLM-integra...</a:t>
            </a:r>
          </a:p>
          <a:p>
            <a:pPr>
              <a:spcAft>
                <a:spcPts val="600"/>
              </a:spcAft>
              <a:defRPr sz="1400">
                <a:solidFill>
                  <a:srgbClr val="E6E6E6"/>
                </a:solidFill>
              </a:defRPr>
            </a:pPr>
            <a:r>
              <a:t>• Wallace, E., Xiao, K., Leike, J., Weng, L., Heidecke, J., &amp; Beutel, A. (2024). The instruction hierarchy: Training LLMs to prioritize privileged instr...</a:t>
            </a:r>
          </a:p>
        </p:txBody>
      </p:sp>
      <p:sp>
        <p:nvSpPr>
          <p:cNvPr id="4" name="TextBox 3"/>
          <p:cNvSpPr txBox="1"/>
          <p:nvPr/>
        </p:nvSpPr>
        <p:spPr>
          <a:xfrm>
            <a:off x="731520" y="4114800"/>
            <a:ext cx="10515600" cy="457200"/>
          </a:xfrm>
          <a:prstGeom prst="rect">
            <a:avLst/>
          </a:prstGeom>
          <a:noFill/>
        </p:spPr>
        <p:txBody>
          <a:bodyPr wrap="square">
            <a:spAutoFit/>
          </a:bodyPr>
          <a:lstStyle/>
          <a:p>
            <a:pPr algn="l">
              <a:defRPr sz="1200" b="0">
                <a:solidFill>
                  <a:srgbClr val="8C8C8C"/>
                </a:solidFill>
              </a:defRPr>
            </a:pPr>
            <a:r>
              <a:t>Full reference list: 18 sources spanning academic papers, industry reports, and government standards (2023–2025)</a:t>
            </a:r>
          </a:p>
        </p:txBody>
      </p:sp>
      <p:sp>
        <p:nvSpPr>
          <p:cNvPr id="5" name="TextBox 4"/>
          <p:cNvSpPr txBox="1"/>
          <p:nvPr/>
        </p:nvSpPr>
        <p:spPr>
          <a:xfrm>
            <a:off x="731520" y="4846320"/>
            <a:ext cx="10515600" cy="1097280"/>
          </a:xfrm>
          <a:prstGeom prst="rect">
            <a:avLst/>
          </a:prstGeom>
          <a:noFill/>
        </p:spPr>
        <p:txBody>
          <a:bodyPr wrap="square">
            <a:spAutoFit/>
          </a:bodyPr>
          <a:lstStyle/>
          <a:p>
            <a:pPr algn="l"/>
            <a:r>
              <a:rPr sz="2400" b="1">
                <a:solidFill>
                  <a:srgbClr val="FFAA3C"/>
                </a:solidFill>
              </a:rPr>
              <a:t>Prompt injection remains an open problem —
defense in depth is essential.</a:t>
            </a:r>
          </a:p>
        </p:txBody>
      </p:sp>
      <p:sp>
        <p:nvSpPr>
          <p:cNvPr id="6" name="TextBox 5"/>
          <p:cNvSpPr txBox="1"/>
          <p:nvPr/>
        </p:nvSpPr>
        <p:spPr>
          <a:xfrm>
            <a:off x="11247120" y="6400800"/>
            <a:ext cx="731520" cy="365760"/>
          </a:xfrm>
          <a:prstGeom prst="rect">
            <a:avLst/>
          </a:prstGeom>
          <a:noFill/>
        </p:spPr>
        <p:txBody>
          <a:bodyPr wrap="square">
            <a:spAutoFit/>
          </a:bodyPr>
          <a:lstStyle/>
          <a:p>
            <a:pPr algn="r">
              <a:defRPr sz="1000" b="0">
                <a:solidFill>
                  <a:srgbClr val="8C8C8C"/>
                </a:solidFill>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914400" y="1828800"/>
            <a:ext cx="10058400" cy="1828800"/>
          </a:xfrm>
          <a:prstGeom prst="rect">
            <a:avLst/>
          </a:prstGeom>
          <a:noFill/>
        </p:spPr>
        <p:txBody>
          <a:bodyPr wrap="square">
            <a:spAutoFit/>
          </a:bodyPr>
          <a:lstStyle/>
          <a:p>
            <a:pPr algn="ctr">
              <a:defRPr sz="4800" b="1">
                <a:solidFill>
                  <a:srgbClr val="64B4FF"/>
                </a:solidFill>
              </a:defRPr>
            </a:pPr>
            <a:r>
              <a:t>Questions?</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1800" b="0">
                <a:solidFill>
                  <a:srgbClr val="B4B4B4"/>
                </a:solidFill>
              </a:defRPr>
            </a:pPr>
            <a:r>
              <a:t>Prompt injection is the #1 LLM vulnerability — no single defense is sufficient,</a:t>
            </a:r>
            <a:br/>
            <a:r>
              <a:t>but layered strategies provide meaningful risk reduction.</a:t>
            </a:r>
          </a:p>
        </p:txBody>
      </p:sp>
      <p:sp>
        <p:nvSpPr>
          <p:cNvPr id="4" name="TextBox 3"/>
          <p:cNvSpPr txBox="1"/>
          <p:nvPr/>
        </p:nvSpPr>
        <p:spPr>
          <a:xfrm>
            <a:off x="914400" y="5303520"/>
            <a:ext cx="10058400" cy="548640"/>
          </a:xfrm>
          <a:prstGeom prst="rect">
            <a:avLst/>
          </a:prstGeom>
          <a:noFill/>
        </p:spPr>
        <p:txBody>
          <a:bodyPr wrap="square">
            <a:spAutoFit/>
          </a:bodyPr>
          <a:lstStyle/>
          <a:p>
            <a:pPr algn="ctr">
              <a:defRPr sz="1400" b="0">
                <a:solidFill>
                  <a:srgbClr val="8C8C8C"/>
                </a:solidFill>
              </a:defRPr>
            </a:pPr>
            <a:r>
              <a:t>Edward Griggs • Christopher Newport University • COVACCI</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8C8C8C"/>
                </a:solidFill>
              </a:defRPr>
            </a:pPr>
            <a: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