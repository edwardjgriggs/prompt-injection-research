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[~30s] Welcome audience. Outline the four research pillars: taxonomy, risks, detection, prevention. Set expectation for 5-8 min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[~45s] Define prompt injection clearly. Emphasize the SQL injection analogy — audience likely familiar with web security. Mention OWASP ranking to establish severity.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[~45s] Cover Direct Injection injection. Highlight key subcategories and give one concrete example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[~45s] Cover Indirect Injection injection. Highlight key subcategories and give one concrete example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[~30s] Walk through the taxonomy diagram. Point out the hierarchy from category to specific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[~45s] Emphasize data exfiltration and unauthorized actions as highest-severity outcomes. Give the markdown image exfiltration example — it's vivid and memorable.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[~30s] Cover remaining risk categories briefly. Highlight that impact scales with agent permission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[~45s] Compare static vs learned approaches. Note that no single detection method is sufficient — defense in depth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[~30s] Walk through the defense pipeline diagram — input sanitization, detection, response filtering,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[~45s] Cover the layered defense approach. Emphasize that no single prevention strategy is complete — instruction hierarchy + input sanitization + output filtering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[~30s] Show the architecture diagram. Highlight how multiple defense layers interact to provide defense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[~30s] Highlight 2-3 foundational references. Close with the key takeaway: no silver bullet, defense in depth required. Thank audience,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4B4FF"/>
                </a:solidFill>
              </a:defRPr>
            </a:pPr>
            <a:r>
              <a:t>Prompt Injection Attacks in Large Language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B4B4"/>
                </a:solidFill>
              </a:defRPr>
            </a:pPr>
            <a:r>
              <a:t>A Survey of Attack Taxonomies, Risks, Detection, and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</a:defRPr>
            </a:pPr>
            <a:r>
              <a:t>Cybersecurity Research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</a:defRPr>
            </a:pPr>
            <a:r>
              <a:t>Presentation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6E6E6"/>
                </a:solidFill>
              </a:defRPr>
            </a:pPr>
            <a:r>
              <a:t>• What is prompt injection?</a:t>
            </a:r>
          </a:p>
          <a:p>
            <a:pPr>
              <a:spcAft>
                <a:spcPts val="600"/>
              </a:spcAft>
              <a:defRPr sz="1800">
                <a:solidFill>
                  <a:srgbClr val="E6E6E6"/>
                </a:solidFill>
              </a:defRPr>
            </a:pPr>
            <a:r>
              <a:t>• Attack taxonomy — direct and indirect vectors</a:t>
            </a:r>
          </a:p>
          <a:p>
            <a:pPr>
              <a:spcAft>
                <a:spcPts val="600"/>
              </a:spcAft>
              <a:defRPr sz="1800">
                <a:solidFill>
                  <a:srgbClr val="E6E6E6"/>
                </a:solidFill>
              </a:defRPr>
            </a:pPr>
            <a:r>
              <a:t>• Real-world risks and impact categories</a:t>
            </a:r>
          </a:p>
          <a:p>
            <a:pPr>
              <a:spcAft>
                <a:spcPts val="600"/>
              </a:spcAft>
              <a:defRPr sz="1800">
                <a:solidFill>
                  <a:srgbClr val="E6E6E6"/>
                </a:solidFill>
              </a:defRPr>
            </a:pPr>
            <a:r>
              <a:t>• Detection techniques and tools</a:t>
            </a:r>
          </a:p>
          <a:p>
            <a:pPr>
              <a:spcAft>
                <a:spcPts val="600"/>
              </a:spcAft>
              <a:defRPr sz="1800">
                <a:solidFill>
                  <a:srgbClr val="E6E6E6"/>
                </a:solidFill>
              </a:defRPr>
            </a:pPr>
            <a:r>
              <a:t>• Prevention strategies and defense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E6E6E6"/>
                </a:solidFill>
              </a:defRPr>
            </a:pPr>
            <a:r>
              <a:t>• Key references and 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</a:defRPr>
            </a:pPr>
            <a:r>
              <a:t>What is Prompt Injection?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6E6E6"/>
                </a:solidFill>
              </a:defRPr>
            </a:pPr>
            <a:r>
              <a:t>• Adversarial inputs that hijack LLM behavior by overriding system instructions</a:t>
            </a:r>
          </a:p>
          <a:p>
            <a:pPr>
              <a:spcAft>
                <a:spcPts val="600"/>
              </a:spcAft>
              <a:defRPr sz="1800">
                <a:solidFill>
                  <a:srgbClr val="E6E6E6"/>
                </a:solidFill>
              </a:defRPr>
            </a:pPr>
            <a:r>
              <a:t>• Analogous to SQL injection — exploits the blurred boundary between code and data</a:t>
            </a:r>
          </a:p>
          <a:p>
            <a:pPr>
              <a:spcAft>
                <a:spcPts val="600"/>
              </a:spcAft>
              <a:defRPr sz="1800">
                <a:solidFill>
                  <a:srgbClr val="E6E6E6"/>
                </a:solidFill>
              </a:defRPr>
            </a:pPr>
            <a:r>
              <a:t>• Ranked #1 on the OWASP Top 10 for LLM Applications (LLM01)</a:t>
            </a:r>
          </a:p>
          <a:p>
            <a:pPr>
              <a:spcAft>
                <a:spcPts val="600"/>
              </a:spcAft>
              <a:defRPr sz="1800">
                <a:solidFill>
                  <a:srgbClr val="E6E6E6"/>
                </a:solidFill>
              </a:defRPr>
            </a:pPr>
            <a:r>
              <a:t>• Affects all major LLM platforms: ChatGPT, Claude, Gemini, Copilot</a:t>
            </a:r>
          </a:p>
          <a:p>
            <a:pPr>
              <a:spcAft>
                <a:spcPts val="600"/>
              </a:spcAft>
              <a:defRPr sz="1800">
                <a:solidFill>
                  <a:srgbClr val="E6E6E6"/>
                </a:solidFill>
              </a:defRPr>
            </a:pPr>
            <a:r>
              <a:t>• Two primary vectors: direct injection (user input) and indirect injection (external data)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</a:defRPr>
            </a:pPr>
            <a:r>
              <a:t>Attack Taxonomy: Direct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Jailbreaking: Techniques that bypass safety alignment through role-play scenarios, hypothetical framing, or persona manipulation. The ...</a:t>
            </a:r>
          </a:p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Goal Hijacking: Instructions that redirect the model's objective away from the system-defined task toward an attacker-chosen goal. Unlik...</a:t>
            </a:r>
          </a:p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Prompt Leaking: Attacks designed to extract the system prompt or other confidential instructions embedded in the model's context. Succes...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</a:defRPr>
            </a:pPr>
            <a:r>
              <a:t>Attack Taxonomy: Indirect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RAG Poisoning: Injecting malicious instructions into documents stored in retrieval-augmented generation knowledge bases. When the poiso...</a:t>
            </a:r>
          </a:p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Web Content Injection: Embedding prompt injection payloads in web pages that LLM-powered browsing agents or summarizers will process. The paylo...</a:t>
            </a:r>
          </a:p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Email and Document Injection: Malicious instructions placed in emails, PDFs, spreadsheets, or other documents that LLM assistants process. When an AI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</a:defRPr>
            </a:pPr>
            <a:r>
              <a:t>Attack Taxonomy Visualization</a:t>
            </a:r>
          </a:p>
        </p:txBody>
      </p:sp>
      <p:pic>
        <p:nvPicPr>
          <p:cNvPr id="3" name="Picture 2" descr="attack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229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</a:defRPr>
            </a:pPr>
            <a:r>
              <a:t>Real-World Risks: Critical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Data Exfiltration: System prompt extraction from ChatGPT custom GPTs via 'repeat your instructions' attacks...</a:t>
            </a:r>
          </a:p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Unauthorized Actions: AI email assistants sending messages to attacker-specified recipients via indirect injection...</a:t>
            </a:r>
          </a:p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System Compromise: Code execution through AI coding assistants processing malicious repository files...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</a:defRPr>
            </a:pPr>
            <a:r>
              <a:t>Risks: Broader Impact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Content Manipulation (high): Attackers can use prompt injection to control, bias, or corrupt the model's output without detection...</a:t>
            </a:r>
          </a:p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Supply Chain and Downstream Propagation (high): Prompt injection can propagate through AI supply chains, where the output of one compromised AI syst...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</a:defRPr>
            </a:pPr>
            <a:r>
              <a:t>Detection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Heuristic and Rule-Based Detection (static): Rebuff heuristic layer — keyword and regex matching against known injection patterns, Custom input validation middleware with configurable rule sets</a:t>
            </a:r>
          </a:p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ML Classification (learned): Rebuff vector similarity layer — cosine distance against known injection embeddings, Lakera Guard API — commercial classifier trained on proprietary injection dataset</a:t>
            </a:r>
          </a:p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Perplexity Analysis (statistical): Perplexity windowing — sliding window analysis flagging regions with anomalous scores, GPT-2 or similar small model used as perplexity reference baseline</a:t>
            </a:r>
          </a:p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Canary Token Detection (proactive): Rebuff canary token layer — random strings injected into system context and monitored in output, Custom canary middleware that rotates tokens per session</a:t>
            </a:r>
          </a:p>
          <a:p>
            <a:pPr>
              <a:spcAft>
                <a:spcPts val="600"/>
              </a:spcAft>
              <a:defRPr sz="1600">
                <a:solidFill>
                  <a:srgbClr val="E6E6E6"/>
                </a:solidFill>
              </a:defRPr>
            </a:pPr>
            <a:r>
              <a:t>• LLM-as-Judge Detection (model-based): Rebuff LLM-based detection layer — GPT-4 prompt evaluating injection likelihood, Dual-LLM architecture: a smaller model screens inputs before the primary model processes them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</a:defRPr>
            </a:pPr>
            <a:r>
              <a:t>Detection &amp; Defense Pipeline</a:t>
            </a:r>
          </a:p>
        </p:txBody>
      </p:sp>
      <p:pic>
        <p:nvPicPr>
          <p:cNvPr id="3" name="Picture 2" descr="defens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229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</a:defRPr>
            </a:pPr>
            <a:r>
              <a:t>Prevention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6E6E6"/>
                </a:solidFill>
              </a:defRPr>
            </a:pPr>
            <a:r>
              <a:t>• Instruction Hierarchy (model): Highly effective against naive direct injection ('ignore previous instructions') but partially bypas...</a:t>
            </a:r>
          </a:p>
          <a:p>
            <a:pPr>
              <a:spcAft>
                <a:spcPts val="600"/>
              </a:spcAft>
              <a:defRPr sz="1500">
                <a:solidFill>
                  <a:srgbClr val="E6E6E6"/>
                </a:solidFill>
              </a:defRPr>
            </a:pPr>
            <a:r>
              <a:t>• Input Sanitization and Filtering (application): Reduces attack surface for known patterns but cannot provide complete protection due to the fundamen...</a:t>
            </a:r>
          </a:p>
          <a:p>
            <a:pPr>
              <a:spcAft>
                <a:spcPts val="600"/>
              </a:spcAft>
              <a:defRPr sz="1500">
                <a:solidFill>
                  <a:srgbClr val="E6E6E6"/>
                </a:solidFill>
              </a:defRPr>
            </a:pPr>
            <a:r>
              <a:t>• Output Validation and Filtering (application): Effective as a safety net for detecting successful attacks that produce observable policy violations...</a:t>
            </a:r>
          </a:p>
          <a:p>
            <a:pPr>
              <a:spcAft>
                <a:spcPts val="600"/>
              </a:spcAft>
              <a:defRPr sz="1500">
                <a:solidFill>
                  <a:srgbClr val="E6E6E6"/>
                </a:solidFill>
              </a:defRPr>
            </a:pPr>
            <a:r>
              <a:t>• Sandboxing and Isolation (system): Does not prevent injection but limits damage from successful attacks, making it a critical defense-i...</a:t>
            </a:r>
          </a:p>
          <a:p>
            <a:pPr>
              <a:spcAft>
                <a:spcPts val="600"/>
              </a:spcAft>
              <a:defRPr sz="1500">
                <a:solidFill>
                  <a:srgbClr val="E6E6E6"/>
                </a:solidFill>
              </a:defRPr>
            </a:pPr>
            <a:r>
              <a:t>• Guardrail Frameworks (application): Provides structured, configurable defense that can be adapted per application without model-level ch...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</a:defRPr>
            </a:pPr>
            <a:r>
              <a:t>Layered Defense Architecture</a:t>
            </a:r>
          </a:p>
        </p:txBody>
      </p:sp>
      <p:pic>
        <p:nvPicPr>
          <p:cNvPr id="3" name="Picture 2" descr="defens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229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</a:defRPr>
            </a:pPr>
            <a:r>
              <a:t>Key References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6E6E6"/>
                </a:solidFill>
              </a:defRPr>
            </a:pPr>
            <a:r>
              <a:t>• Abdallah, M., Barreno, A., Bensalah, F., et al. (2025). Prompt injection attacks in large language models and AI agent s...</a:t>
            </a:r>
          </a:p>
          <a:p>
            <a:pPr>
              <a:spcAft>
                <a:spcPts val="600"/>
              </a:spcAft>
              <a:defRPr sz="1300">
                <a:solidFill>
                  <a:srgbClr val="E6E6E6"/>
                </a:solidFill>
              </a:defRPr>
            </a:pPr>
            <a:r>
              <a:t>• Ahmed, S., Kaur, K., &amp; Sharma, R. (2025). Prompt injection 2.0: Hybrid AI threats. arXiv. https://arxiv.org/abs/2507.131...</a:t>
            </a:r>
          </a:p>
          <a:p>
            <a:pPr>
              <a:spcAft>
                <a:spcPts val="600"/>
              </a:spcAft>
              <a:defRPr sz="1300">
                <a:solidFill>
                  <a:srgbClr val="E6E6E6"/>
                </a:solidFill>
              </a:defRPr>
            </a:pPr>
            <a:r>
              <a:t>• Alon, G., &amp; Kamfonas, M. (2023). Detecting language model attacks with perplexity. arXiv. https://arxiv.org/abs/2308.141...</a:t>
            </a:r>
          </a:p>
          <a:p>
            <a:pPr>
              <a:spcAft>
                <a:spcPts val="600"/>
              </a:spcAft>
              <a:defRPr sz="1300">
                <a:solidFill>
                  <a:srgbClr val="E6E6E6"/>
                </a:solidFill>
              </a:defRPr>
            </a:pPr>
            <a:r>
              <a:t>• Anthropic. (2024a). Research on AI safety and prompt security. Anthropic. https://www.anthropic.com/research</a:t>
            </a:r>
          </a:p>
          <a:p>
            <a:pPr>
              <a:spcAft>
                <a:spcPts val="600"/>
              </a:spcAft>
              <a:defRPr sz="1300">
                <a:solidFill>
                  <a:srgbClr val="E6E6E6"/>
                </a:solidFill>
              </a:defRPr>
            </a:pPr>
            <a:r>
              <a:t>• Anthropic. (2024b). System prompt security best practices. Anthropic. https://docs.anthropic.com/en/docs/build-with-clau...</a:t>
            </a:r>
          </a:p>
          <a:p>
            <a:pPr>
              <a:spcAft>
                <a:spcPts val="600"/>
              </a:spcAft>
              <a:defRPr sz="1300">
                <a:solidFill>
                  <a:srgbClr val="E6E6E6"/>
                </a:solidFill>
              </a:defRPr>
            </a:pPr>
            <a:r>
              <a:t>• BSG. (2025). OWASP LLM Top 10 (2025) analysis. BSG Tech Blog. https://bsg.tech/blog/owasp-llm-top-10/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A3C"/>
                </a:solidFill>
              </a:defRPr>
            </a:pPr>
            <a:r>
              <a:t>Prompt injection remains an open problem — defense in depth is essential.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